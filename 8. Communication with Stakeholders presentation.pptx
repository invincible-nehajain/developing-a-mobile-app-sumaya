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6" r:id="rId1"/>
    <p:sldMasterId id="2147483667" r:id="rId2"/>
  </p:sldMasterIdLst>
  <p:notesMasterIdLst>
    <p:notesMasterId r:id="rId9"/>
  </p:notesMasterIdLst>
  <p:sldIdLst>
    <p:sldId id="256" r:id="rId3"/>
    <p:sldId id="257" r:id="rId4"/>
    <p:sldId id="258" r:id="rId5"/>
    <p:sldId id="262" r:id="rId6"/>
    <p:sldId id="263" r:id="rId7"/>
    <p:sldId id="260" r:id="rId8"/>
  </p:sldIdLst>
  <p:sldSz cx="12192000" cy="6858000"/>
  <p:notesSz cx="6858000" cy="9144000"/>
  <p:embeddedFontLs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EB Garamond" panose="00000500000000000000" pitchFamily="2" charset="0"/>
      <p:regular r:id="rId14"/>
      <p:bold r:id="rId15"/>
      <p:italic r:id="rId16"/>
      <p:boldItalic r:id="rId17"/>
    </p:embeddedFont>
    <p:embeddedFont>
      <p:font typeface="Open Sans" panose="020B0606030504020204" pitchFamily="34" charset="0"/>
      <p:regular r:id="rId18"/>
      <p:bold r:id="rId19"/>
      <p:italic r:id="rId20"/>
      <p:boldItalic r:id="rId21"/>
    </p:embeddedFont>
    <p:embeddedFont>
      <p:font typeface="Open Sans Light" panose="020B0306030504020204" pitchFamily="34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font" Target="fonts/font12.fntdata"/><Relationship Id="rId7" Type="http://schemas.openxmlformats.org/officeDocument/2006/relationships/slide" Target="slides/slide5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font" Target="fonts/font16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2.fntdata"/><Relationship Id="rId24" Type="http://schemas.openxmlformats.org/officeDocument/2006/relationships/font" Target="fonts/font15.fntdata"/><Relationship Id="rId5" Type="http://schemas.openxmlformats.org/officeDocument/2006/relationships/slide" Target="slides/slide3.xml"/><Relationship Id="rId15" Type="http://schemas.openxmlformats.org/officeDocument/2006/relationships/font" Target="fonts/font6.fntdata"/><Relationship Id="rId23" Type="http://schemas.openxmlformats.org/officeDocument/2006/relationships/font" Target="fonts/font14.fntdata"/><Relationship Id="rId28" Type="http://schemas.openxmlformats.org/officeDocument/2006/relationships/theme" Target="theme/theme1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font" Target="fonts/font13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1" name="Google Shape;12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3" name="Google Shape;13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3" name="Google Shape;13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023339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9" name="Google Shape;13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629873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5" name="Google Shape;14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952500" y="1173080"/>
            <a:ext cx="6430394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3300"/>
              <a:buFont typeface="Open Sans Light"/>
              <a:buNone/>
              <a:defRPr sz="3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952500" y="4209772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rgbClr val="767676"/>
              </a:buClr>
              <a:buSzPts val="2400"/>
              <a:buFont typeface="Arial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16" name="Google Shape;16;p2"/>
          <p:cNvGrpSpPr/>
          <p:nvPr/>
        </p:nvGrpSpPr>
        <p:grpSpPr>
          <a:xfrm>
            <a:off x="7804298" y="0"/>
            <a:ext cx="3327519" cy="3718234"/>
            <a:chOff x="12878153" y="-3921422"/>
            <a:chExt cx="6695877" cy="7482102"/>
          </a:xfrm>
        </p:grpSpPr>
        <p:pic>
          <p:nvPicPr>
            <p:cNvPr id="17" name="Google Shape;17;p2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2878153" y="-3921422"/>
              <a:ext cx="6695877" cy="74821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" name="Google Shape;18;p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131" y="-1266391"/>
              <a:ext cx="4999920" cy="230920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19" name="Google Shape;19;p2"/>
          <p:cNvCxnSpPr/>
          <p:nvPr/>
        </p:nvCxnSpPr>
        <p:spPr>
          <a:xfrm>
            <a:off x="1090613" y="4738989"/>
            <a:ext cx="10010774" cy="0"/>
          </a:xfrm>
          <a:prstGeom prst="straightConnector1">
            <a:avLst/>
          </a:prstGeom>
          <a:noFill/>
          <a:ln w="9525" cap="flat" cmpd="sng">
            <a:solidFill>
              <a:srgbClr val="003468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973932" y="642601"/>
            <a:ext cx="10108406" cy="803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body" idx="1"/>
          </p:nvPr>
        </p:nvSpPr>
        <p:spPr>
          <a:xfrm>
            <a:off x="1007769" y="1825625"/>
            <a:ext cx="10010774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sldNum" idx="12"/>
          </p:nvPr>
        </p:nvSpPr>
        <p:spPr>
          <a:xfrm>
            <a:off x="8339137" y="61277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4" name="Google Shape;24;p3"/>
          <p:cNvCxnSpPr/>
          <p:nvPr/>
        </p:nvCxnSpPr>
        <p:spPr>
          <a:xfrm>
            <a:off x="1090613" y="1446084"/>
            <a:ext cx="10010774" cy="0"/>
          </a:xfrm>
          <a:prstGeom prst="straightConnector1">
            <a:avLst/>
          </a:prstGeom>
          <a:noFill/>
          <a:ln w="9525" cap="flat" cmpd="sng">
            <a:solidFill>
              <a:srgbClr val="003468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831850" y="922929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3300"/>
              <a:buFont typeface="Open Sans Light"/>
              <a:buNone/>
              <a:defRPr sz="3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831850" y="3802654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339137" y="61277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973932" y="642601"/>
            <a:ext cx="10108406" cy="803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987055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sldNum" idx="12"/>
          </p:nvPr>
        </p:nvSpPr>
        <p:spPr>
          <a:xfrm>
            <a:off x="8339137" y="61277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4" name="Google Shape;34;p5"/>
          <p:cNvCxnSpPr/>
          <p:nvPr/>
        </p:nvCxnSpPr>
        <p:spPr>
          <a:xfrm>
            <a:off x="1090613" y="1446084"/>
            <a:ext cx="10010774" cy="0"/>
          </a:xfrm>
          <a:prstGeom prst="straightConnector1">
            <a:avLst/>
          </a:prstGeom>
          <a:noFill/>
          <a:ln w="9525" cap="flat" cmpd="sng">
            <a:solidFill>
              <a:srgbClr val="003468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96737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body" idx="1"/>
          </p:nvPr>
        </p:nvSpPr>
        <p:spPr>
          <a:xfrm>
            <a:off x="96737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2"/>
          </p:nvPr>
        </p:nvSpPr>
        <p:spPr>
          <a:xfrm>
            <a:off x="96737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3"/>
          </p:nvPr>
        </p:nvSpPr>
        <p:spPr>
          <a:xfrm>
            <a:off x="629979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4"/>
          </p:nvPr>
        </p:nvSpPr>
        <p:spPr>
          <a:xfrm>
            <a:off x="629979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sldNum" idx="12"/>
          </p:nvPr>
        </p:nvSpPr>
        <p:spPr>
          <a:xfrm>
            <a:off x="8339137" y="61277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2" name="Google Shape;42;p6"/>
          <p:cNvCxnSpPr/>
          <p:nvPr/>
        </p:nvCxnSpPr>
        <p:spPr>
          <a:xfrm>
            <a:off x="1090613" y="1446084"/>
            <a:ext cx="10010774" cy="0"/>
          </a:xfrm>
          <a:prstGeom prst="straightConnector1">
            <a:avLst/>
          </a:prstGeom>
          <a:noFill/>
          <a:ln w="9525" cap="flat" cmpd="sng">
            <a:solidFill>
              <a:srgbClr val="003468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>
            <a:spLocks noGrp="1"/>
          </p:cNvSpPr>
          <p:nvPr>
            <p:ph type="title"/>
          </p:nvPr>
        </p:nvSpPr>
        <p:spPr>
          <a:xfrm>
            <a:off x="973932" y="642601"/>
            <a:ext cx="10108406" cy="803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sldNum" idx="12"/>
          </p:nvPr>
        </p:nvSpPr>
        <p:spPr>
          <a:xfrm>
            <a:off x="8339137" y="61277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6" name="Google Shape;46;p7"/>
          <p:cNvCxnSpPr/>
          <p:nvPr/>
        </p:nvCxnSpPr>
        <p:spPr>
          <a:xfrm>
            <a:off x="1090613" y="1446084"/>
            <a:ext cx="10010774" cy="0"/>
          </a:xfrm>
          <a:prstGeom prst="straightConnector1">
            <a:avLst/>
          </a:prstGeom>
          <a:noFill/>
          <a:ln w="9525" cap="flat" cmpd="sng">
            <a:solidFill>
              <a:srgbClr val="003468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8"/>
          <p:cNvSpPr txBox="1">
            <a:spLocks noGrp="1"/>
          </p:cNvSpPr>
          <p:nvPr>
            <p:ph type="sldNum" idx="12"/>
          </p:nvPr>
        </p:nvSpPr>
        <p:spPr>
          <a:xfrm>
            <a:off x="8339137" y="61277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9" name="Google Shape;49;p8"/>
          <p:cNvCxnSpPr/>
          <p:nvPr/>
        </p:nvCxnSpPr>
        <p:spPr>
          <a:xfrm>
            <a:off x="1090613" y="1446084"/>
            <a:ext cx="10010774" cy="0"/>
          </a:xfrm>
          <a:prstGeom prst="straightConnector1">
            <a:avLst/>
          </a:prstGeom>
          <a:noFill/>
          <a:ln w="9525" cap="flat" cmpd="sng">
            <a:solidFill>
              <a:srgbClr val="003468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>
  <p:cSld name="Content with Caption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body" idx="1"/>
          </p:nvPr>
        </p:nvSpPr>
        <p:spPr>
          <a:xfrm>
            <a:off x="5183188" y="1616156"/>
            <a:ext cx="5899149" cy="4244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2400"/>
              <a:buNone/>
              <a:defRPr sz="2400"/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2400"/>
              <a:buChar char="•"/>
              <a:defRPr sz="24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body" idx="2"/>
          </p:nvPr>
        </p:nvSpPr>
        <p:spPr>
          <a:xfrm>
            <a:off x="988643" y="1695894"/>
            <a:ext cx="3932237" cy="4165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2800"/>
              <a:buNone/>
              <a:defRPr sz="28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8339137" y="61277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54" name="Google Shape;54;p9"/>
          <p:cNvCxnSpPr/>
          <p:nvPr/>
        </p:nvCxnSpPr>
        <p:spPr>
          <a:xfrm>
            <a:off x="1090613" y="1446084"/>
            <a:ext cx="10010774" cy="0"/>
          </a:xfrm>
          <a:prstGeom prst="straightConnector1">
            <a:avLst/>
          </a:prstGeom>
          <a:noFill/>
          <a:ln w="9525" cap="flat" cmpd="sng">
            <a:solidFill>
              <a:srgbClr val="003468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973932" y="642601"/>
            <a:ext cx="10108406" cy="803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>
  <p:cSld name="Picture with Caption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>
            <a:spLocks noGrp="1"/>
          </p:cNvSpPr>
          <p:nvPr>
            <p:ph type="pic" idx="2"/>
          </p:nvPr>
        </p:nvSpPr>
        <p:spPr>
          <a:xfrm>
            <a:off x="5031157" y="1704338"/>
            <a:ext cx="6051180" cy="4156675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10"/>
          <p:cNvSpPr txBox="1">
            <a:spLocks noGrp="1"/>
          </p:cNvSpPr>
          <p:nvPr>
            <p:ph type="sldNum" idx="12"/>
          </p:nvPr>
        </p:nvSpPr>
        <p:spPr>
          <a:xfrm>
            <a:off x="8339137" y="61277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59" name="Google Shape;59;p10"/>
          <p:cNvCxnSpPr/>
          <p:nvPr/>
        </p:nvCxnSpPr>
        <p:spPr>
          <a:xfrm>
            <a:off x="1090613" y="1446084"/>
            <a:ext cx="10010774" cy="0"/>
          </a:xfrm>
          <a:prstGeom prst="straightConnector1">
            <a:avLst/>
          </a:prstGeom>
          <a:noFill/>
          <a:ln w="9525" cap="flat" cmpd="sng">
            <a:solidFill>
              <a:srgbClr val="003468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0" name="Google Shape;60;p10"/>
          <p:cNvSpPr txBox="1">
            <a:spLocks noGrp="1"/>
          </p:cNvSpPr>
          <p:nvPr>
            <p:ph type="body" idx="1"/>
          </p:nvPr>
        </p:nvSpPr>
        <p:spPr>
          <a:xfrm>
            <a:off x="988643" y="1695894"/>
            <a:ext cx="3932237" cy="4165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2800"/>
              <a:buNone/>
              <a:defRPr sz="28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title"/>
          </p:nvPr>
        </p:nvSpPr>
        <p:spPr>
          <a:xfrm>
            <a:off x="973932" y="642601"/>
            <a:ext cx="10108406" cy="803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>
            <a:spLocks noGrp="1"/>
          </p:cNvSpPr>
          <p:nvPr>
            <p:ph type="ctrTitle"/>
          </p:nvPr>
        </p:nvSpPr>
        <p:spPr>
          <a:xfrm>
            <a:off x="952500" y="1173080"/>
            <a:ext cx="6430394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3300"/>
              <a:buFont typeface="Open Sans Light"/>
              <a:buNone/>
              <a:defRPr sz="3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subTitle" idx="1"/>
          </p:nvPr>
        </p:nvSpPr>
        <p:spPr>
          <a:xfrm>
            <a:off x="952500" y="4209772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rgbClr val="767676"/>
              </a:buClr>
              <a:buSzPts val="2400"/>
              <a:buFont typeface="Arial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73" name="Google Shape;73;p12"/>
          <p:cNvGrpSpPr/>
          <p:nvPr/>
        </p:nvGrpSpPr>
        <p:grpSpPr>
          <a:xfrm>
            <a:off x="7804298" y="0"/>
            <a:ext cx="3327519" cy="3718234"/>
            <a:chOff x="12878153" y="-3921422"/>
            <a:chExt cx="6695877" cy="7482102"/>
          </a:xfrm>
        </p:grpSpPr>
        <p:pic>
          <p:nvPicPr>
            <p:cNvPr id="74" name="Google Shape;74;p12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2878153" y="-3921422"/>
              <a:ext cx="6695877" cy="74821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5" name="Google Shape;75;p1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131" y="-1266391"/>
              <a:ext cx="4999920" cy="230920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76" name="Google Shape;76;p12"/>
          <p:cNvCxnSpPr/>
          <p:nvPr/>
        </p:nvCxnSpPr>
        <p:spPr>
          <a:xfrm>
            <a:off x="1090613" y="4738989"/>
            <a:ext cx="10010774" cy="0"/>
          </a:xfrm>
          <a:prstGeom prst="straightConnector1">
            <a:avLst/>
          </a:prstGeom>
          <a:noFill/>
          <a:ln w="9525" cap="flat" cmpd="sng">
            <a:solidFill>
              <a:srgbClr val="003468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3"/>
          <p:cNvSpPr txBox="1">
            <a:spLocks noGrp="1"/>
          </p:cNvSpPr>
          <p:nvPr>
            <p:ph type="title"/>
          </p:nvPr>
        </p:nvSpPr>
        <p:spPr>
          <a:xfrm>
            <a:off x="973932" y="642601"/>
            <a:ext cx="10108406" cy="803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body" idx="1"/>
          </p:nvPr>
        </p:nvSpPr>
        <p:spPr>
          <a:xfrm>
            <a:off x="1007769" y="1825625"/>
            <a:ext cx="10010774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sldNum" idx="12"/>
          </p:nvPr>
        </p:nvSpPr>
        <p:spPr>
          <a:xfrm>
            <a:off x="8339137" y="61277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81" name="Google Shape;81;p13"/>
          <p:cNvCxnSpPr/>
          <p:nvPr/>
        </p:nvCxnSpPr>
        <p:spPr>
          <a:xfrm>
            <a:off x="1090613" y="1446084"/>
            <a:ext cx="10010774" cy="0"/>
          </a:xfrm>
          <a:prstGeom prst="straightConnector1">
            <a:avLst/>
          </a:prstGeom>
          <a:noFill/>
          <a:ln w="9525" cap="flat" cmpd="sng">
            <a:solidFill>
              <a:srgbClr val="003468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/>
          </p:nvPr>
        </p:nvSpPr>
        <p:spPr>
          <a:xfrm>
            <a:off x="831850" y="922929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3300"/>
              <a:buFont typeface="Open Sans Light"/>
              <a:buNone/>
              <a:defRPr sz="3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831850" y="3802654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85" name="Google Shape;85;p14"/>
          <p:cNvSpPr txBox="1">
            <a:spLocks noGrp="1"/>
          </p:cNvSpPr>
          <p:nvPr>
            <p:ph type="sldNum" idx="12"/>
          </p:nvPr>
        </p:nvSpPr>
        <p:spPr>
          <a:xfrm>
            <a:off x="8339137" y="61277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5"/>
          <p:cNvSpPr txBox="1">
            <a:spLocks noGrp="1"/>
          </p:cNvSpPr>
          <p:nvPr>
            <p:ph type="title"/>
          </p:nvPr>
        </p:nvSpPr>
        <p:spPr>
          <a:xfrm>
            <a:off x="973932" y="642601"/>
            <a:ext cx="10108406" cy="803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5"/>
          <p:cNvSpPr txBox="1">
            <a:spLocks noGrp="1"/>
          </p:cNvSpPr>
          <p:nvPr>
            <p:ph type="body" idx="1"/>
          </p:nvPr>
        </p:nvSpPr>
        <p:spPr>
          <a:xfrm>
            <a:off x="987055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1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15"/>
          <p:cNvSpPr txBox="1">
            <a:spLocks noGrp="1"/>
          </p:cNvSpPr>
          <p:nvPr>
            <p:ph type="sldNum" idx="12"/>
          </p:nvPr>
        </p:nvSpPr>
        <p:spPr>
          <a:xfrm>
            <a:off x="8339137" y="61277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91" name="Google Shape;91;p15"/>
          <p:cNvCxnSpPr/>
          <p:nvPr/>
        </p:nvCxnSpPr>
        <p:spPr>
          <a:xfrm>
            <a:off x="1090613" y="1446084"/>
            <a:ext cx="10010774" cy="0"/>
          </a:xfrm>
          <a:prstGeom prst="straightConnector1">
            <a:avLst/>
          </a:prstGeom>
          <a:noFill/>
          <a:ln w="9525" cap="flat" cmpd="sng">
            <a:solidFill>
              <a:srgbClr val="003468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 txBox="1">
            <a:spLocks noGrp="1"/>
          </p:cNvSpPr>
          <p:nvPr>
            <p:ph type="title"/>
          </p:nvPr>
        </p:nvSpPr>
        <p:spPr>
          <a:xfrm>
            <a:off x="96737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6"/>
          <p:cNvSpPr txBox="1">
            <a:spLocks noGrp="1"/>
          </p:cNvSpPr>
          <p:nvPr>
            <p:ph type="body" idx="1"/>
          </p:nvPr>
        </p:nvSpPr>
        <p:spPr>
          <a:xfrm>
            <a:off x="96737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5" name="Google Shape;95;p16"/>
          <p:cNvSpPr txBox="1">
            <a:spLocks noGrp="1"/>
          </p:cNvSpPr>
          <p:nvPr>
            <p:ph type="body" idx="2"/>
          </p:nvPr>
        </p:nvSpPr>
        <p:spPr>
          <a:xfrm>
            <a:off x="96737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6" name="Google Shape;96;p16"/>
          <p:cNvSpPr txBox="1">
            <a:spLocks noGrp="1"/>
          </p:cNvSpPr>
          <p:nvPr>
            <p:ph type="body" idx="3"/>
          </p:nvPr>
        </p:nvSpPr>
        <p:spPr>
          <a:xfrm>
            <a:off x="629979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7" name="Google Shape;97;p16"/>
          <p:cNvSpPr txBox="1">
            <a:spLocks noGrp="1"/>
          </p:cNvSpPr>
          <p:nvPr>
            <p:ph type="body" idx="4"/>
          </p:nvPr>
        </p:nvSpPr>
        <p:spPr>
          <a:xfrm>
            <a:off x="629979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8" name="Google Shape;98;p16"/>
          <p:cNvSpPr txBox="1">
            <a:spLocks noGrp="1"/>
          </p:cNvSpPr>
          <p:nvPr>
            <p:ph type="sldNum" idx="12"/>
          </p:nvPr>
        </p:nvSpPr>
        <p:spPr>
          <a:xfrm>
            <a:off x="8339137" y="61277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99" name="Google Shape;99;p16"/>
          <p:cNvCxnSpPr/>
          <p:nvPr/>
        </p:nvCxnSpPr>
        <p:spPr>
          <a:xfrm>
            <a:off x="1090613" y="1446084"/>
            <a:ext cx="10010774" cy="0"/>
          </a:xfrm>
          <a:prstGeom prst="straightConnector1">
            <a:avLst/>
          </a:prstGeom>
          <a:noFill/>
          <a:ln w="9525" cap="flat" cmpd="sng">
            <a:solidFill>
              <a:srgbClr val="003468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>
            <a:spLocks noGrp="1"/>
          </p:cNvSpPr>
          <p:nvPr>
            <p:ph type="title"/>
          </p:nvPr>
        </p:nvSpPr>
        <p:spPr>
          <a:xfrm>
            <a:off x="973932" y="642601"/>
            <a:ext cx="10108406" cy="803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7"/>
          <p:cNvSpPr txBox="1">
            <a:spLocks noGrp="1"/>
          </p:cNvSpPr>
          <p:nvPr>
            <p:ph type="sldNum" idx="12"/>
          </p:nvPr>
        </p:nvSpPr>
        <p:spPr>
          <a:xfrm>
            <a:off x="8339137" y="61277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03" name="Google Shape;103;p17"/>
          <p:cNvCxnSpPr/>
          <p:nvPr/>
        </p:nvCxnSpPr>
        <p:spPr>
          <a:xfrm>
            <a:off x="1090613" y="1446084"/>
            <a:ext cx="10010774" cy="0"/>
          </a:xfrm>
          <a:prstGeom prst="straightConnector1">
            <a:avLst/>
          </a:prstGeom>
          <a:noFill/>
          <a:ln w="9525" cap="flat" cmpd="sng">
            <a:solidFill>
              <a:srgbClr val="003468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 txBox="1">
            <a:spLocks noGrp="1"/>
          </p:cNvSpPr>
          <p:nvPr>
            <p:ph type="sldNum" idx="12"/>
          </p:nvPr>
        </p:nvSpPr>
        <p:spPr>
          <a:xfrm>
            <a:off x="8339137" y="61277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06" name="Google Shape;106;p18"/>
          <p:cNvCxnSpPr/>
          <p:nvPr/>
        </p:nvCxnSpPr>
        <p:spPr>
          <a:xfrm>
            <a:off x="1090613" y="1446084"/>
            <a:ext cx="10010774" cy="0"/>
          </a:xfrm>
          <a:prstGeom prst="straightConnector1">
            <a:avLst/>
          </a:prstGeom>
          <a:noFill/>
          <a:ln w="9525" cap="flat" cmpd="sng">
            <a:solidFill>
              <a:srgbClr val="003468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>
  <p:cSld name="Content with Caption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>
            <a:spLocks noGrp="1"/>
          </p:cNvSpPr>
          <p:nvPr>
            <p:ph type="body" idx="1"/>
          </p:nvPr>
        </p:nvSpPr>
        <p:spPr>
          <a:xfrm>
            <a:off x="5183188" y="1616156"/>
            <a:ext cx="5899149" cy="4244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2400"/>
              <a:buNone/>
              <a:defRPr sz="2400"/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2400"/>
              <a:buChar char="•"/>
              <a:defRPr sz="24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09" name="Google Shape;109;p19"/>
          <p:cNvSpPr txBox="1">
            <a:spLocks noGrp="1"/>
          </p:cNvSpPr>
          <p:nvPr>
            <p:ph type="body" idx="2"/>
          </p:nvPr>
        </p:nvSpPr>
        <p:spPr>
          <a:xfrm>
            <a:off x="988643" y="1695894"/>
            <a:ext cx="3932237" cy="4165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2800"/>
              <a:buNone/>
              <a:defRPr sz="28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10" name="Google Shape;110;p19"/>
          <p:cNvSpPr txBox="1">
            <a:spLocks noGrp="1"/>
          </p:cNvSpPr>
          <p:nvPr>
            <p:ph type="sldNum" idx="12"/>
          </p:nvPr>
        </p:nvSpPr>
        <p:spPr>
          <a:xfrm>
            <a:off x="8339137" y="61277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11" name="Google Shape;111;p19"/>
          <p:cNvCxnSpPr/>
          <p:nvPr/>
        </p:nvCxnSpPr>
        <p:spPr>
          <a:xfrm>
            <a:off x="1090613" y="1446084"/>
            <a:ext cx="10010774" cy="0"/>
          </a:xfrm>
          <a:prstGeom prst="straightConnector1">
            <a:avLst/>
          </a:prstGeom>
          <a:noFill/>
          <a:ln w="9525" cap="flat" cmpd="sng">
            <a:solidFill>
              <a:srgbClr val="003468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2" name="Google Shape;112;p19"/>
          <p:cNvSpPr txBox="1">
            <a:spLocks noGrp="1"/>
          </p:cNvSpPr>
          <p:nvPr>
            <p:ph type="title"/>
          </p:nvPr>
        </p:nvSpPr>
        <p:spPr>
          <a:xfrm>
            <a:off x="973932" y="642601"/>
            <a:ext cx="10108406" cy="803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>
  <p:cSld name="Picture with Caption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>
            <a:spLocks noGrp="1"/>
          </p:cNvSpPr>
          <p:nvPr>
            <p:ph type="pic" idx="2"/>
          </p:nvPr>
        </p:nvSpPr>
        <p:spPr>
          <a:xfrm>
            <a:off x="5031157" y="1704338"/>
            <a:ext cx="6051180" cy="4156675"/>
          </a:xfrm>
          <a:prstGeom prst="rect">
            <a:avLst/>
          </a:prstGeom>
          <a:noFill/>
          <a:ln>
            <a:noFill/>
          </a:ln>
        </p:spPr>
      </p:sp>
      <p:sp>
        <p:nvSpPr>
          <p:cNvPr id="115" name="Google Shape;115;p20"/>
          <p:cNvSpPr txBox="1">
            <a:spLocks noGrp="1"/>
          </p:cNvSpPr>
          <p:nvPr>
            <p:ph type="sldNum" idx="12"/>
          </p:nvPr>
        </p:nvSpPr>
        <p:spPr>
          <a:xfrm>
            <a:off x="8339137" y="61277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16" name="Google Shape;116;p20"/>
          <p:cNvCxnSpPr/>
          <p:nvPr/>
        </p:nvCxnSpPr>
        <p:spPr>
          <a:xfrm>
            <a:off x="1090613" y="1446084"/>
            <a:ext cx="10010774" cy="0"/>
          </a:xfrm>
          <a:prstGeom prst="straightConnector1">
            <a:avLst/>
          </a:prstGeom>
          <a:noFill/>
          <a:ln w="9525" cap="flat" cmpd="sng">
            <a:solidFill>
              <a:srgbClr val="003468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7" name="Google Shape;117;p20"/>
          <p:cNvSpPr txBox="1">
            <a:spLocks noGrp="1"/>
          </p:cNvSpPr>
          <p:nvPr>
            <p:ph type="body" idx="1"/>
          </p:nvPr>
        </p:nvSpPr>
        <p:spPr>
          <a:xfrm>
            <a:off x="988643" y="1695894"/>
            <a:ext cx="3932237" cy="4165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2800"/>
              <a:buNone/>
              <a:defRPr sz="28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18" name="Google Shape;118;p20"/>
          <p:cNvSpPr txBox="1">
            <a:spLocks noGrp="1"/>
          </p:cNvSpPr>
          <p:nvPr>
            <p:ph type="title"/>
          </p:nvPr>
        </p:nvSpPr>
        <p:spPr>
          <a:xfrm>
            <a:off x="973932" y="642601"/>
            <a:ext cx="10108406" cy="803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14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73932" y="642601"/>
            <a:ext cx="10108406" cy="803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3300"/>
              <a:buFont typeface="Open Sans Light"/>
              <a:buNone/>
              <a:defRPr sz="3300" b="0" i="0" u="none" strike="noStrike" cap="none">
                <a:solidFill>
                  <a:srgbClr val="B3B3B3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071564" y="1825625"/>
            <a:ext cx="10010774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767676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7F7F7F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7F7F7F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7F7F7F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7F7F7F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339137" y="61277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9" name="Google Shape;9;p1"/>
          <p:cNvGrpSpPr/>
          <p:nvPr/>
        </p:nvGrpSpPr>
        <p:grpSpPr>
          <a:xfrm>
            <a:off x="10229850" y="1589"/>
            <a:ext cx="852487" cy="852487"/>
            <a:chOff x="10311046" y="0"/>
            <a:chExt cx="1042754" cy="1042754"/>
          </a:xfrm>
        </p:grpSpPr>
        <p:sp>
          <p:nvSpPr>
            <p:cNvPr id="10" name="Google Shape;10;p1"/>
            <p:cNvSpPr/>
            <p:nvPr/>
          </p:nvSpPr>
          <p:spPr>
            <a:xfrm>
              <a:off x="10311046" y="0"/>
              <a:ext cx="1042754" cy="1042754"/>
            </a:xfrm>
            <a:custGeom>
              <a:avLst/>
              <a:gdLst/>
              <a:ahLst/>
              <a:cxnLst/>
              <a:rect l="l" t="t" r="r" b="b"/>
              <a:pathLst>
                <a:path w="8318206" h="8318206" extrusionOk="0">
                  <a:moveTo>
                    <a:pt x="0" y="0"/>
                  </a:moveTo>
                  <a:lnTo>
                    <a:pt x="8318206" y="0"/>
                  </a:lnTo>
                  <a:lnTo>
                    <a:pt x="8318206" y="8318206"/>
                  </a:lnTo>
                  <a:lnTo>
                    <a:pt x="4178387" y="7528885"/>
                  </a:lnTo>
                  <a:lnTo>
                    <a:pt x="0" y="83182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346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1;p1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10495522" y="272558"/>
              <a:ext cx="673802" cy="47812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" name="Google Shape;12;p1"/>
          <p:cNvSpPr/>
          <p:nvPr/>
        </p:nvSpPr>
        <p:spPr>
          <a:xfrm>
            <a:off x="973932" y="6231265"/>
            <a:ext cx="2183611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B3B3B3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Golden Gate University. |  2022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1"/>
          <p:cNvSpPr txBox="1">
            <a:spLocks noGrp="1"/>
          </p:cNvSpPr>
          <p:nvPr>
            <p:ph type="title"/>
          </p:nvPr>
        </p:nvSpPr>
        <p:spPr>
          <a:xfrm>
            <a:off x="973932" y="642601"/>
            <a:ext cx="10108406" cy="803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3300"/>
              <a:buFont typeface="Open Sans Light"/>
              <a:buNone/>
              <a:defRPr sz="3300" b="0" i="0" u="none" strike="noStrike" cap="none">
                <a:solidFill>
                  <a:srgbClr val="B3B3B3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1071564" y="1825625"/>
            <a:ext cx="10010774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767676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7F7F7F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7F7F7F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7F7F7F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7F7F7F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sldNum" idx="12"/>
          </p:nvPr>
        </p:nvSpPr>
        <p:spPr>
          <a:xfrm>
            <a:off x="8339137" y="61277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66" name="Google Shape;66;p11"/>
          <p:cNvGrpSpPr/>
          <p:nvPr/>
        </p:nvGrpSpPr>
        <p:grpSpPr>
          <a:xfrm>
            <a:off x="10229850" y="1589"/>
            <a:ext cx="852487" cy="852487"/>
            <a:chOff x="10311046" y="0"/>
            <a:chExt cx="1042754" cy="1042754"/>
          </a:xfrm>
        </p:grpSpPr>
        <p:sp>
          <p:nvSpPr>
            <p:cNvPr id="67" name="Google Shape;67;p11"/>
            <p:cNvSpPr/>
            <p:nvPr/>
          </p:nvSpPr>
          <p:spPr>
            <a:xfrm>
              <a:off x="10311046" y="0"/>
              <a:ext cx="1042754" cy="1042754"/>
            </a:xfrm>
            <a:custGeom>
              <a:avLst/>
              <a:gdLst/>
              <a:ahLst/>
              <a:cxnLst/>
              <a:rect l="l" t="t" r="r" b="b"/>
              <a:pathLst>
                <a:path w="8318206" h="8318206" extrusionOk="0">
                  <a:moveTo>
                    <a:pt x="0" y="0"/>
                  </a:moveTo>
                  <a:lnTo>
                    <a:pt x="8318206" y="0"/>
                  </a:lnTo>
                  <a:lnTo>
                    <a:pt x="8318206" y="8318206"/>
                  </a:lnTo>
                  <a:lnTo>
                    <a:pt x="4178387" y="7528885"/>
                  </a:lnTo>
                  <a:lnTo>
                    <a:pt x="0" y="83182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346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8" name="Google Shape;68;p11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10495522" y="272558"/>
              <a:ext cx="673802" cy="47812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9" name="Google Shape;69;p11"/>
          <p:cNvSpPr/>
          <p:nvPr/>
        </p:nvSpPr>
        <p:spPr>
          <a:xfrm>
            <a:off x="973932" y="6231265"/>
            <a:ext cx="2183611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B3B3B3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Golden Gate University. |  2022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1"/>
          <p:cNvSpPr txBox="1">
            <a:spLocks noGrp="1"/>
          </p:cNvSpPr>
          <p:nvPr>
            <p:ph type="ctrTitle"/>
          </p:nvPr>
        </p:nvSpPr>
        <p:spPr>
          <a:xfrm>
            <a:off x="952500" y="1435727"/>
            <a:ext cx="6430394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3300"/>
              <a:buFont typeface="Open Sans Light"/>
              <a:buNone/>
            </a:pPr>
            <a:r>
              <a:rPr lang="en-US" dirty="0"/>
              <a:t> </a:t>
            </a:r>
            <a:br>
              <a:rPr lang="en-US" dirty="0"/>
            </a:br>
            <a:br>
              <a:rPr lang="en-US" dirty="0"/>
            </a:br>
            <a:r>
              <a:rPr lang="en-US" b="1" dirty="0">
                <a:solidFill>
                  <a:srgbClr val="003468"/>
                </a:solidFill>
                <a:latin typeface="Open Sans"/>
                <a:ea typeface="Open Sans"/>
                <a:cs typeface="Open Sans"/>
                <a:sym typeface="Open Sans"/>
              </a:rPr>
              <a:t>Project Name: Developing a mobile app - Sumaya</a:t>
            </a:r>
            <a:endParaRPr dirty="0"/>
          </a:p>
        </p:txBody>
      </p:sp>
      <p:sp>
        <p:nvSpPr>
          <p:cNvPr id="124" name="Google Shape;124;p21"/>
          <p:cNvSpPr txBox="1">
            <a:spLocks noGrp="1"/>
          </p:cNvSpPr>
          <p:nvPr>
            <p:ph type="subTitle" idx="1"/>
          </p:nvPr>
        </p:nvSpPr>
        <p:spPr>
          <a:xfrm>
            <a:off x="952500" y="4209772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2400"/>
              <a:buFont typeface="Arial"/>
              <a:buNone/>
            </a:pPr>
            <a:r>
              <a:rPr lang="en-US" b="1" dirty="0"/>
              <a:t>Group Details: Hariharan, Ismail, Neha, Prabakar &amp; </a:t>
            </a:r>
            <a:r>
              <a:rPr lang="en-US" b="1" dirty="0" err="1"/>
              <a:t>Yokesh</a:t>
            </a:r>
            <a:endParaRPr dirty="0"/>
          </a:p>
          <a:p>
            <a:pPr marL="0" marR="0" lvl="0" indent="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rgbClr val="767676"/>
              </a:buClr>
              <a:buSzPts val="2400"/>
              <a:buFont typeface="Arial"/>
              <a:buNone/>
            </a:pPr>
            <a:r>
              <a:rPr lang="en-US" b="1" dirty="0"/>
              <a:t>Date: 16</a:t>
            </a:r>
            <a:r>
              <a:rPr lang="en-US" b="1" baseline="30000" dirty="0"/>
              <a:t>th</a:t>
            </a:r>
            <a:r>
              <a:rPr lang="en-US" b="1" dirty="0"/>
              <a:t> February, 2024</a:t>
            </a:r>
            <a:endParaRPr lang="en-US" b="1" baseline="30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2"/>
          <p:cNvSpPr txBox="1">
            <a:spLocks noGrp="1"/>
          </p:cNvSpPr>
          <p:nvPr>
            <p:ph type="title"/>
          </p:nvPr>
        </p:nvSpPr>
        <p:spPr>
          <a:xfrm>
            <a:off x="1041797" y="770617"/>
            <a:ext cx="10108406" cy="803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468"/>
              </a:buClr>
              <a:buSzPts val="3300"/>
              <a:buFont typeface="Open Sans"/>
              <a:buNone/>
            </a:pPr>
            <a:r>
              <a:rPr lang="en-US" b="1" dirty="0">
                <a:solidFill>
                  <a:srgbClr val="003468"/>
                </a:solidFill>
                <a:latin typeface="+mj-lt"/>
                <a:ea typeface="Open Sans"/>
                <a:cs typeface="Open Sans"/>
                <a:sym typeface="Open Sans"/>
              </a:rPr>
              <a:t>Overview of project</a:t>
            </a:r>
            <a:endParaRPr dirty="0">
              <a:latin typeface="+mj-lt"/>
            </a:endParaRPr>
          </a:p>
        </p:txBody>
      </p:sp>
      <p:sp>
        <p:nvSpPr>
          <p:cNvPr id="130" name="Google Shape;130;p22"/>
          <p:cNvSpPr txBox="1">
            <a:spLocks noGrp="1"/>
          </p:cNvSpPr>
          <p:nvPr>
            <p:ph type="body" idx="1"/>
          </p:nvPr>
        </p:nvSpPr>
        <p:spPr>
          <a:xfrm>
            <a:off x="1106424" y="1455228"/>
            <a:ext cx="10043779" cy="4808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514350" indent="-285750" algn="l">
              <a:buFont typeface="Wingdings" panose="05000000000000000000" pitchFamily="2" charset="2"/>
              <a:buChar char="Ø"/>
            </a:pPr>
            <a:r>
              <a:rPr lang="en-US" sz="1400" b="1" dirty="0">
                <a:solidFill>
                  <a:schemeClr val="tx1"/>
                </a:solidFill>
                <a:latin typeface="+mj-lt"/>
              </a:rPr>
              <a:t>Project Name</a:t>
            </a:r>
            <a:r>
              <a:rPr lang="en-US" sz="1400" b="1" i="0" dirty="0">
                <a:solidFill>
                  <a:schemeClr val="tx1"/>
                </a:solidFill>
                <a:effectLst/>
                <a:latin typeface="+mj-lt"/>
              </a:rPr>
              <a:t>:</a:t>
            </a:r>
            <a:r>
              <a:rPr lang="en-US" sz="1400" b="0" i="0" dirty="0">
                <a:solidFill>
                  <a:schemeClr val="tx1"/>
                </a:solidFill>
                <a:effectLst/>
                <a:latin typeface="+mj-lt"/>
              </a:rPr>
              <a:t> Developing a mobile </a:t>
            </a:r>
            <a:r>
              <a:rPr lang="en-US" sz="1400" dirty="0">
                <a:solidFill>
                  <a:schemeClr val="tx1"/>
                </a:solidFill>
                <a:latin typeface="+mj-lt"/>
              </a:rPr>
              <a:t>a</a:t>
            </a:r>
            <a:r>
              <a:rPr lang="en-US" sz="1400" b="0" i="0" dirty="0">
                <a:solidFill>
                  <a:schemeClr val="tx1"/>
                </a:solidFill>
                <a:effectLst/>
                <a:latin typeface="+mj-lt"/>
              </a:rPr>
              <a:t>pp - Sumaya</a:t>
            </a:r>
          </a:p>
          <a:p>
            <a:pPr marL="514350" indent="-285750" algn="l">
              <a:buFont typeface="Wingdings" panose="05000000000000000000" pitchFamily="2" charset="2"/>
              <a:buChar char="Ø"/>
            </a:pPr>
            <a:r>
              <a:rPr lang="en-US" sz="1400" b="1" i="0" dirty="0">
                <a:solidFill>
                  <a:schemeClr val="tx1"/>
                </a:solidFill>
                <a:effectLst/>
                <a:latin typeface="+mj-lt"/>
              </a:rPr>
              <a:t>Objectives: </a:t>
            </a:r>
          </a:p>
          <a:p>
            <a:pPr marL="514350" indent="-2857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effectLst/>
                <a:latin typeface="+mj-lt"/>
                <a:ea typeface="Times New Roman" panose="02020603050405020304" pitchFamily="18" charset="0"/>
              </a:rPr>
              <a:t>Develop a mobile application that is user friendly for an online shopping.</a:t>
            </a:r>
            <a:endParaRPr lang="en-IN" sz="1400" dirty="0">
              <a:solidFill>
                <a:schemeClr val="tx1"/>
              </a:solidFill>
              <a:latin typeface="+mj-lt"/>
              <a:ea typeface="Times New Roman" panose="02020603050405020304" pitchFamily="18" charset="0"/>
            </a:endParaRPr>
          </a:p>
          <a:p>
            <a:pPr marL="514350" indent="-2857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effectLst/>
                <a:latin typeface="+mj-lt"/>
                <a:ea typeface="Times New Roman" panose="02020603050405020304" pitchFamily="18" charset="0"/>
              </a:rPr>
              <a:t>Ensure seamless integration with existing e-commerce platforms, visually appealing and compatible with both iOS and Android platforms.</a:t>
            </a:r>
            <a:endParaRPr lang="en-IN" sz="1400" dirty="0">
              <a:solidFill>
                <a:schemeClr val="tx1"/>
              </a:solidFill>
              <a:latin typeface="+mj-lt"/>
              <a:ea typeface="Times New Roman" panose="02020603050405020304" pitchFamily="18" charset="0"/>
            </a:endParaRPr>
          </a:p>
          <a:p>
            <a:pPr marL="514350" indent="-2857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effectLst/>
                <a:latin typeface="+mj-lt"/>
                <a:ea typeface="Times New Roman" panose="02020603050405020304" pitchFamily="18" charset="0"/>
              </a:rPr>
              <a:t>Provide a secure and efficient payment gateway.</a:t>
            </a:r>
            <a:endParaRPr lang="en-IN" sz="1400" dirty="0">
              <a:solidFill>
                <a:schemeClr val="tx1"/>
              </a:solidFill>
              <a:latin typeface="+mj-lt"/>
              <a:ea typeface="Times New Roman" panose="02020603050405020304" pitchFamily="18" charset="0"/>
            </a:endParaRPr>
          </a:p>
          <a:p>
            <a:pPr marL="514350" indent="-2857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effectLst/>
                <a:latin typeface="+mj-lt"/>
                <a:ea typeface="Times New Roman" panose="02020603050405020304" pitchFamily="18" charset="0"/>
              </a:rPr>
              <a:t>Enhance the overall shopping experience for customers.</a:t>
            </a:r>
            <a:endParaRPr lang="en-US" sz="1400" b="0" i="0" dirty="0">
              <a:solidFill>
                <a:schemeClr val="tx1"/>
              </a:solidFill>
              <a:effectLst/>
              <a:latin typeface="+mj-lt"/>
            </a:endParaRPr>
          </a:p>
          <a:p>
            <a:pPr marL="514350" indent="-285750">
              <a:buFont typeface="Wingdings" panose="05000000000000000000" pitchFamily="2" charset="2"/>
              <a:buChar char="Ø"/>
            </a:pPr>
            <a:r>
              <a:rPr lang="en-US" sz="1400" b="1" i="0" dirty="0">
                <a:solidFill>
                  <a:schemeClr val="tx1"/>
                </a:solidFill>
                <a:effectLst/>
                <a:latin typeface="+mj-lt"/>
              </a:rPr>
              <a:t>Importance:</a:t>
            </a:r>
            <a:r>
              <a:rPr lang="en-US" sz="1400" b="0" i="0" dirty="0"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lang="en-US" sz="1400" dirty="0">
                <a:solidFill>
                  <a:schemeClr val="tx1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Our team is developing an online shopping mobile application in response to the growing trend of online buying and the requirement for a seamless user experience. Given the growing dependence of retail transactions on digital platforms, a mobile app that is both feature-rich and easy to use will be able to adapt to the changing tastes of users.</a:t>
            </a:r>
          </a:p>
          <a:p>
            <a:pPr marL="514350" indent="-285750">
              <a:buFont typeface="Wingdings" panose="05000000000000000000" pitchFamily="2" charset="2"/>
              <a:buChar char="Ø"/>
            </a:pPr>
            <a:r>
              <a:rPr lang="en-US" sz="1400" b="1" i="0" dirty="0">
                <a:solidFill>
                  <a:schemeClr val="tx1"/>
                </a:solidFill>
                <a:effectLst/>
                <a:latin typeface="+mj-lt"/>
              </a:rPr>
              <a:t>Key Features:</a:t>
            </a:r>
            <a:r>
              <a:rPr lang="en-US" sz="1400" b="0" i="0" dirty="0">
                <a:solidFill>
                  <a:schemeClr val="tx1"/>
                </a:solidFill>
                <a:effectLst/>
                <a:latin typeface="+mj-lt"/>
              </a:rPr>
              <a:t> 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Features like order monitoring, safe online payments, product browsing and customized user accounts will all be available on the app.</a:t>
            </a:r>
            <a:endParaRPr lang="en-IN" sz="1400" dirty="0">
              <a:solidFill>
                <a:schemeClr val="tx1"/>
              </a:solidFill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It will provide an easy-to-use interface with simple navigation for a better overall buying experience.</a:t>
            </a:r>
            <a:endParaRPr lang="en-IN" sz="1400" dirty="0">
              <a:solidFill>
                <a:schemeClr val="tx1"/>
              </a:solidFill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Both the iOS and Android platforms will be supported in the design of the mobile application.</a:t>
            </a:r>
            <a:endParaRPr lang="en-IN" sz="1400" dirty="0">
              <a:solidFill>
                <a:schemeClr val="tx1"/>
              </a:solidFill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effectLst/>
                <a:latin typeface="+mj-lt"/>
                <a:ea typeface="Times New Roman" panose="02020603050405020304" pitchFamily="18" charset="0"/>
              </a:rPr>
              <a:t>Credit/debit cards, mobile wallets and other online payment methods are just a few of the payment methods that the program will accept.</a:t>
            </a:r>
            <a:endParaRPr sz="1400" dirty="0">
              <a:solidFill>
                <a:schemeClr val="tx1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 txBox="1">
            <a:spLocks noGrp="1"/>
          </p:cNvSpPr>
          <p:nvPr>
            <p:ph type="title"/>
          </p:nvPr>
        </p:nvSpPr>
        <p:spPr>
          <a:xfrm>
            <a:off x="1085450" y="642601"/>
            <a:ext cx="10108406" cy="803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468"/>
              </a:buClr>
              <a:buSzPts val="3300"/>
              <a:buFont typeface="Open Sans"/>
              <a:buNone/>
            </a:pPr>
            <a:r>
              <a:rPr lang="en-US" b="1" dirty="0">
                <a:solidFill>
                  <a:srgbClr val="003468"/>
                </a:solidFill>
                <a:latin typeface="+mj-lt"/>
                <a:ea typeface="Open Sans"/>
                <a:cs typeface="Open Sans"/>
                <a:sym typeface="Open Sans"/>
              </a:rPr>
              <a:t>Issues</a:t>
            </a:r>
            <a:endParaRPr dirty="0">
              <a:latin typeface="+mj-lt"/>
            </a:endParaRPr>
          </a:p>
        </p:txBody>
      </p:sp>
      <p:sp>
        <p:nvSpPr>
          <p:cNvPr id="136" name="Google Shape;136;p23"/>
          <p:cNvSpPr txBox="1">
            <a:spLocks noGrp="1"/>
          </p:cNvSpPr>
          <p:nvPr>
            <p:ph type="body" idx="1"/>
          </p:nvPr>
        </p:nvSpPr>
        <p:spPr>
          <a:xfrm>
            <a:off x="1071638" y="1446084"/>
            <a:ext cx="10010700" cy="48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71500" indent="-342900">
              <a:buFont typeface="Wingdings" panose="05000000000000000000" pitchFamily="2" charset="2"/>
              <a:buChar char="Ø"/>
            </a:pPr>
            <a:r>
              <a:rPr lang="en-US" sz="1400" b="1" dirty="0">
                <a:solidFill>
                  <a:srgbClr val="0D0D0D"/>
                </a:solidFill>
                <a:latin typeface="+mj-lt"/>
              </a:rPr>
              <a:t>Communication: </a:t>
            </a:r>
          </a:p>
          <a:p>
            <a:pPr marL="800100" lvl="1"/>
            <a:r>
              <a:rPr lang="en-US" sz="1400" dirty="0">
                <a:solidFill>
                  <a:srgbClr val="0D0D0D"/>
                </a:solidFill>
                <a:latin typeface="+mj-lt"/>
              </a:rPr>
              <a:t>Stakeholder Communication: Difficulty faced during communicating the key deliverables with stakeholders.</a:t>
            </a:r>
          </a:p>
          <a:p>
            <a:pPr marL="800100" lvl="1"/>
            <a:r>
              <a:rPr lang="en-US" sz="1400" dirty="0">
                <a:solidFill>
                  <a:srgbClr val="0D0D0D"/>
                </a:solidFill>
                <a:latin typeface="+mj-lt"/>
              </a:rPr>
              <a:t>Reporting Structure: Clarify the reporting structure within the project team and to external stakeholders.</a:t>
            </a:r>
          </a:p>
          <a:p>
            <a:pPr marL="571500" indent="-342900" algn="l">
              <a:buFont typeface="Wingdings" panose="05000000000000000000" pitchFamily="2" charset="2"/>
              <a:buChar char="Ø"/>
            </a:pPr>
            <a:r>
              <a:rPr lang="en-US" sz="1400" b="1" i="0" dirty="0">
                <a:solidFill>
                  <a:srgbClr val="0D0D0D"/>
                </a:solidFill>
                <a:effectLst/>
                <a:latin typeface="+mj-lt"/>
              </a:rPr>
              <a:t>Development Team:</a:t>
            </a:r>
            <a:endParaRPr lang="en-US" sz="1400" b="0" i="0" dirty="0">
              <a:solidFill>
                <a:srgbClr val="0D0D0D"/>
              </a:solidFill>
              <a:effectLst/>
              <a:latin typeface="+mj-lt"/>
            </a:endParaRPr>
          </a:p>
          <a:p>
            <a:pPr marL="800100" lvl="1"/>
            <a:r>
              <a:rPr lang="en-US" sz="1400" b="0" i="0" dirty="0">
                <a:solidFill>
                  <a:srgbClr val="0D0D0D"/>
                </a:solidFill>
                <a:effectLst/>
                <a:latin typeface="+mj-lt"/>
              </a:rPr>
              <a:t>Resource Constraints: Limited availability of developer and designer.</a:t>
            </a:r>
          </a:p>
          <a:p>
            <a:pPr marL="800100" lvl="1"/>
            <a:r>
              <a:rPr lang="en-US" sz="1400" b="0" i="0" dirty="0">
                <a:solidFill>
                  <a:srgbClr val="0D0D0D"/>
                </a:solidFill>
                <a:effectLst/>
                <a:latin typeface="+mj-lt"/>
              </a:rPr>
              <a:t>Time Constraints: Tight project timelines leading to burnout in development &amp; deployment constraints.</a:t>
            </a:r>
          </a:p>
          <a:p>
            <a:pPr marL="800100" lvl="1"/>
            <a:r>
              <a:rPr lang="en-US" sz="1400" b="0" i="0" dirty="0">
                <a:solidFill>
                  <a:srgbClr val="0D0D0D"/>
                </a:solidFill>
                <a:effectLst/>
                <a:latin typeface="+mj-lt"/>
              </a:rPr>
              <a:t>Technical Challenges: Unforeseen technical hurdles impacting development progress.</a:t>
            </a:r>
          </a:p>
          <a:p>
            <a:pPr marL="571500" indent="-342900" algn="l">
              <a:buFont typeface="Wingdings" panose="05000000000000000000" pitchFamily="2" charset="2"/>
              <a:buChar char="Ø"/>
            </a:pPr>
            <a:r>
              <a:rPr lang="en-US" sz="1400" b="1" i="0" dirty="0">
                <a:solidFill>
                  <a:srgbClr val="0D0D0D"/>
                </a:solidFill>
                <a:effectLst/>
                <a:latin typeface="+mj-lt"/>
              </a:rPr>
              <a:t>Project Manager:</a:t>
            </a:r>
            <a:endParaRPr lang="en-US" sz="1400" b="0" i="0" dirty="0">
              <a:solidFill>
                <a:srgbClr val="0D0D0D"/>
              </a:solidFill>
              <a:effectLst/>
              <a:latin typeface="+mj-lt"/>
            </a:endParaRPr>
          </a:p>
          <a:p>
            <a:pPr marL="800100" lvl="1"/>
            <a:r>
              <a:rPr lang="en-US" sz="1400" b="0" i="0" dirty="0">
                <a:solidFill>
                  <a:srgbClr val="0D0D0D"/>
                </a:solidFill>
                <a:effectLst/>
                <a:latin typeface="+mj-lt"/>
              </a:rPr>
              <a:t>Budget Overruns: Challenges in managing project costs within allocated budgets.</a:t>
            </a:r>
          </a:p>
          <a:p>
            <a:pPr marL="800100" lvl="1"/>
            <a:r>
              <a:rPr lang="en-US" sz="1400" b="0" i="0" dirty="0">
                <a:solidFill>
                  <a:srgbClr val="0D0D0D"/>
                </a:solidFill>
                <a:effectLst/>
                <a:latin typeface="+mj-lt"/>
              </a:rPr>
              <a:t>Communication Breakdowns: Issues in effective communication and collaboration among team members.</a:t>
            </a:r>
          </a:p>
          <a:p>
            <a:pPr marL="800100" lvl="1"/>
            <a:r>
              <a:rPr lang="en-US" sz="1400" b="0" i="0" dirty="0">
                <a:solidFill>
                  <a:srgbClr val="0D0D0D"/>
                </a:solidFill>
                <a:effectLst/>
                <a:latin typeface="+mj-lt"/>
              </a:rPr>
              <a:t>Scope Creep: Uncontrolled expansion of project scope leading to timeline delays and resource strain.</a:t>
            </a:r>
          </a:p>
          <a:p>
            <a:pPr marL="571500" indent="-342900" algn="l">
              <a:buFont typeface="Wingdings" panose="05000000000000000000" pitchFamily="2" charset="2"/>
              <a:buChar char="Ø"/>
            </a:pPr>
            <a:r>
              <a:rPr lang="en-US" sz="1400" b="1" i="0" dirty="0">
                <a:solidFill>
                  <a:srgbClr val="0D0D0D"/>
                </a:solidFill>
                <a:effectLst/>
                <a:latin typeface="+mj-lt"/>
              </a:rPr>
              <a:t>Management/Leadership:</a:t>
            </a:r>
            <a:endParaRPr lang="en-US" sz="1400" b="0" i="0" dirty="0">
              <a:solidFill>
                <a:srgbClr val="0D0D0D"/>
              </a:solidFill>
              <a:effectLst/>
              <a:latin typeface="+mj-lt"/>
            </a:endParaRPr>
          </a:p>
          <a:p>
            <a:pPr marL="800100" lvl="1"/>
            <a:r>
              <a:rPr lang="en-US" sz="1400" b="0" i="0" dirty="0">
                <a:solidFill>
                  <a:srgbClr val="0D0D0D"/>
                </a:solidFill>
                <a:effectLst/>
                <a:latin typeface="+mj-lt"/>
              </a:rPr>
              <a:t>Stakeholder Management: Difficulty in managing </a:t>
            </a:r>
            <a:r>
              <a:rPr lang="en-US" sz="1400" dirty="0">
                <a:solidFill>
                  <a:srgbClr val="0D0D0D"/>
                </a:solidFill>
                <a:latin typeface="+mj-lt"/>
              </a:rPr>
              <a:t>various</a:t>
            </a:r>
            <a:r>
              <a:rPr lang="en-US" sz="1400" b="0" i="0" dirty="0">
                <a:solidFill>
                  <a:srgbClr val="0D0D0D"/>
                </a:solidFill>
                <a:effectLst/>
                <a:latin typeface="+mj-lt"/>
              </a:rPr>
              <a:t> stakeholder expectations and demands.</a:t>
            </a:r>
          </a:p>
          <a:p>
            <a:pPr marL="800100" lvl="1"/>
            <a:r>
              <a:rPr lang="en-US" sz="1400" b="0" i="0" dirty="0">
                <a:solidFill>
                  <a:srgbClr val="0D0D0D"/>
                </a:solidFill>
                <a:effectLst/>
                <a:latin typeface="+mj-lt"/>
              </a:rPr>
              <a:t>Resource Allocation: Challenges in optimizing resource allocation to meet project needs.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 txBox="1">
            <a:spLocks noGrp="1"/>
          </p:cNvSpPr>
          <p:nvPr>
            <p:ph type="title"/>
          </p:nvPr>
        </p:nvSpPr>
        <p:spPr>
          <a:xfrm>
            <a:off x="973932" y="642601"/>
            <a:ext cx="10108406" cy="803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468"/>
              </a:buClr>
              <a:buSzPts val="3300"/>
              <a:buFont typeface="Open Sans"/>
              <a:buNone/>
            </a:pPr>
            <a:r>
              <a:rPr lang="en-US" b="1" dirty="0">
                <a:solidFill>
                  <a:srgbClr val="003468"/>
                </a:solidFill>
                <a:latin typeface="+mj-lt"/>
                <a:ea typeface="Open Sans"/>
                <a:cs typeface="Open Sans"/>
                <a:sym typeface="Open Sans"/>
              </a:rPr>
              <a:t>Issues </a:t>
            </a:r>
            <a:endParaRPr dirty="0">
              <a:latin typeface="+mj-lt"/>
            </a:endParaRPr>
          </a:p>
        </p:txBody>
      </p:sp>
      <p:sp>
        <p:nvSpPr>
          <p:cNvPr id="136" name="Google Shape;136;p23"/>
          <p:cNvSpPr txBox="1">
            <a:spLocks noGrp="1"/>
          </p:cNvSpPr>
          <p:nvPr>
            <p:ph type="body" idx="1"/>
          </p:nvPr>
        </p:nvSpPr>
        <p:spPr>
          <a:xfrm>
            <a:off x="1071638" y="1446084"/>
            <a:ext cx="10010700" cy="48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71500" indent="-342900" algn="l">
              <a:buFont typeface="Wingdings" panose="05000000000000000000" pitchFamily="2" charset="2"/>
              <a:buChar char="Ø"/>
            </a:pPr>
            <a:r>
              <a:rPr lang="en-US" sz="1200" b="1" i="0" dirty="0">
                <a:solidFill>
                  <a:srgbClr val="0D0D0D"/>
                </a:solidFill>
                <a:effectLst/>
                <a:latin typeface="+mj-lt"/>
              </a:rPr>
              <a:t>End Users:</a:t>
            </a:r>
          </a:p>
          <a:p>
            <a:pPr marL="571500" indent="-342900" algn="l">
              <a:buFont typeface="Arial" panose="020B0604020202020204" pitchFamily="34" charset="0"/>
              <a:buChar char="•"/>
            </a:pPr>
            <a:r>
              <a:rPr lang="en-US" sz="1200" i="0" dirty="0">
                <a:solidFill>
                  <a:srgbClr val="0D0D0D"/>
                </a:solidFill>
                <a:effectLst/>
                <a:latin typeface="+mj-lt"/>
              </a:rPr>
              <a:t>User Experience: Concerns over the app's usability, navigation, and overall user experience.</a:t>
            </a:r>
          </a:p>
          <a:p>
            <a:pPr marL="571500" indent="-342900" algn="l">
              <a:buFont typeface="Arial" panose="020B0604020202020204" pitchFamily="34" charset="0"/>
              <a:buChar char="•"/>
            </a:pPr>
            <a:r>
              <a:rPr lang="en-US" sz="1200" i="0" dirty="0">
                <a:solidFill>
                  <a:srgbClr val="0D0D0D"/>
                </a:solidFill>
                <a:effectLst/>
                <a:latin typeface="+mj-lt"/>
              </a:rPr>
              <a:t>Security Concerns: Worries about the security of personal and financial information shared on the app.</a:t>
            </a:r>
          </a:p>
          <a:p>
            <a:pPr marL="571500" indent="-342900" algn="l">
              <a:buFont typeface="Arial" panose="020B0604020202020204" pitchFamily="34" charset="0"/>
              <a:buChar char="•"/>
            </a:pPr>
            <a:r>
              <a:rPr lang="en-US" sz="1200" i="0" dirty="0">
                <a:solidFill>
                  <a:srgbClr val="0D0D0D"/>
                </a:solidFill>
                <a:effectLst/>
                <a:latin typeface="+mj-lt"/>
              </a:rPr>
              <a:t>Performance Issues: Frustration over slow loading times, crashes, and other performance-related issues.</a:t>
            </a:r>
          </a:p>
          <a:p>
            <a:pPr marL="571500" indent="-342900" algn="l">
              <a:buFont typeface="Wingdings" panose="05000000000000000000" pitchFamily="2" charset="2"/>
              <a:buChar char="Ø"/>
            </a:pPr>
            <a:r>
              <a:rPr lang="en-US" sz="1200" b="1" i="0" dirty="0">
                <a:solidFill>
                  <a:srgbClr val="0D0D0D"/>
                </a:solidFill>
                <a:effectLst/>
                <a:latin typeface="+mj-lt"/>
              </a:rPr>
              <a:t>Customers:</a:t>
            </a:r>
          </a:p>
          <a:p>
            <a:pPr marL="514350" indent="-285750" algn="l">
              <a:buFont typeface="Arial" panose="020B0604020202020204" pitchFamily="34" charset="0"/>
              <a:buChar char="•"/>
            </a:pPr>
            <a:r>
              <a:rPr lang="en-US" sz="1200" i="0" dirty="0">
                <a:solidFill>
                  <a:srgbClr val="0D0D0D"/>
                </a:solidFill>
                <a:effectLst/>
                <a:latin typeface="+mj-lt"/>
              </a:rPr>
              <a:t>Product Availability: Complaints about limited product selection or out-of-stock items.</a:t>
            </a:r>
          </a:p>
          <a:p>
            <a:pPr marL="514350" indent="-285750" algn="l">
              <a:buFont typeface="Arial" panose="020B0604020202020204" pitchFamily="34" charset="0"/>
              <a:buChar char="•"/>
            </a:pPr>
            <a:r>
              <a:rPr lang="en-US" sz="1200" i="0" dirty="0">
                <a:solidFill>
                  <a:srgbClr val="0D0D0D"/>
                </a:solidFill>
                <a:effectLst/>
                <a:latin typeface="+mj-lt"/>
              </a:rPr>
              <a:t>Customer Service: Dissatisfaction with slow response times or inadequate support from customer service.</a:t>
            </a:r>
          </a:p>
          <a:p>
            <a:pPr marL="514350" indent="-285750" algn="l">
              <a:buFont typeface="Arial" panose="020B0604020202020204" pitchFamily="34" charset="0"/>
              <a:buChar char="•"/>
            </a:pPr>
            <a:r>
              <a:rPr lang="en-US" sz="1200" i="0" dirty="0">
                <a:solidFill>
                  <a:srgbClr val="0D0D0D"/>
                </a:solidFill>
                <a:effectLst/>
                <a:latin typeface="+mj-lt"/>
              </a:rPr>
              <a:t>Pricing Disputes: Disagreements over pricing discrepancies or unclear pricing policies.</a:t>
            </a:r>
          </a:p>
          <a:p>
            <a:pPr marL="571500" indent="-342900" algn="l">
              <a:buFont typeface="Wingdings" panose="05000000000000000000" pitchFamily="2" charset="2"/>
              <a:buChar char="Ø"/>
            </a:pPr>
            <a:r>
              <a:rPr lang="en-US" sz="1200" b="1" i="0" dirty="0">
                <a:solidFill>
                  <a:srgbClr val="0D0D0D"/>
                </a:solidFill>
                <a:effectLst/>
                <a:latin typeface="+mj-lt"/>
              </a:rPr>
              <a:t>Suppliers:</a:t>
            </a:r>
          </a:p>
          <a:p>
            <a:pPr marL="514350" indent="-285750" algn="l">
              <a:buFont typeface="Arial" panose="020B0604020202020204" pitchFamily="34" charset="0"/>
              <a:buChar char="•"/>
            </a:pPr>
            <a:r>
              <a:rPr lang="en-US" sz="1200" i="0" dirty="0">
                <a:solidFill>
                  <a:srgbClr val="0D0D0D"/>
                </a:solidFill>
                <a:effectLst/>
                <a:latin typeface="+mj-lt"/>
              </a:rPr>
              <a:t>Integration Challenges: Issues with integrating their systems with the app for seamless operations.</a:t>
            </a:r>
          </a:p>
          <a:p>
            <a:pPr marL="514350" indent="-285750" algn="l">
              <a:buFont typeface="Arial" panose="020B0604020202020204" pitchFamily="34" charset="0"/>
              <a:buChar char="•"/>
            </a:pPr>
            <a:r>
              <a:rPr lang="en-US" sz="1200" i="0" dirty="0">
                <a:solidFill>
                  <a:srgbClr val="0D0D0D"/>
                </a:solidFill>
                <a:effectLst/>
                <a:latin typeface="+mj-lt"/>
              </a:rPr>
              <a:t>Payment Delays: Concerns over delayed payments or billing discrepancies.</a:t>
            </a:r>
          </a:p>
          <a:p>
            <a:pPr marL="514350" indent="-285750" algn="l">
              <a:buFont typeface="Arial" panose="020B0604020202020204" pitchFamily="34" charset="0"/>
              <a:buChar char="•"/>
            </a:pPr>
            <a:r>
              <a:rPr lang="en-US" sz="1200" i="0" dirty="0">
                <a:solidFill>
                  <a:srgbClr val="0D0D0D"/>
                </a:solidFill>
                <a:effectLst/>
                <a:latin typeface="+mj-lt"/>
              </a:rPr>
              <a:t>Brand Representation: Complaints about inaccurate product listings or misrepresentation of brand identity.</a:t>
            </a:r>
          </a:p>
          <a:p>
            <a:pPr marL="571500" indent="-342900" algn="l">
              <a:buFont typeface="Wingdings" panose="05000000000000000000" pitchFamily="2" charset="2"/>
              <a:buChar char="Ø"/>
            </a:pPr>
            <a:r>
              <a:rPr lang="en-US" sz="1200" b="1" i="0" dirty="0">
                <a:solidFill>
                  <a:srgbClr val="0D0D0D"/>
                </a:solidFill>
                <a:effectLst/>
                <a:latin typeface="+mj-lt"/>
              </a:rPr>
              <a:t>Regulatory Authorities:</a:t>
            </a:r>
          </a:p>
          <a:p>
            <a:pPr marL="514350" indent="-285750" algn="l">
              <a:buFont typeface="Arial" panose="020B0604020202020204" pitchFamily="34" charset="0"/>
              <a:buChar char="•"/>
            </a:pPr>
            <a:r>
              <a:rPr lang="en-US" sz="1200" i="0" dirty="0">
                <a:solidFill>
                  <a:srgbClr val="0D0D0D"/>
                </a:solidFill>
                <a:effectLst/>
                <a:latin typeface="+mj-lt"/>
              </a:rPr>
              <a:t>Compliance Issues: Challenges in meeting regulatory requirements and industry standards.</a:t>
            </a:r>
          </a:p>
          <a:p>
            <a:pPr marL="514350" indent="-285750" algn="l">
              <a:buFont typeface="Arial" panose="020B0604020202020204" pitchFamily="34" charset="0"/>
              <a:buChar char="•"/>
            </a:pPr>
            <a:r>
              <a:rPr lang="en-US" sz="1200" i="0" dirty="0">
                <a:solidFill>
                  <a:srgbClr val="0D0D0D"/>
                </a:solidFill>
                <a:effectLst/>
                <a:latin typeface="+mj-lt"/>
              </a:rPr>
              <a:t>Data Privacy: Scrutiny over data handling practices and compliance with data protection laws.</a:t>
            </a:r>
          </a:p>
          <a:p>
            <a:pPr marL="514350" indent="-285750" algn="l">
              <a:buFont typeface="Arial" panose="020B0604020202020204" pitchFamily="34" charset="0"/>
              <a:buChar char="•"/>
            </a:pPr>
            <a:r>
              <a:rPr lang="en-US" sz="1200" i="0" dirty="0">
                <a:solidFill>
                  <a:srgbClr val="0D0D0D"/>
                </a:solidFill>
                <a:effectLst/>
                <a:latin typeface="+mj-lt"/>
              </a:rPr>
              <a:t>Legal Disputes: Potential legal conflicts arising from non-compliance or breaches of regulations.</a:t>
            </a:r>
            <a:br>
              <a:rPr lang="en-US" sz="1200" i="0" dirty="0">
                <a:solidFill>
                  <a:srgbClr val="0D0D0D"/>
                </a:solidFill>
                <a:effectLst/>
                <a:latin typeface="+mj-lt"/>
              </a:rPr>
            </a:br>
            <a:endParaRPr lang="en-US" sz="1200" i="0" dirty="0">
              <a:solidFill>
                <a:srgbClr val="0D0D0D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73122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>
            <a:spLocks noGrp="1"/>
          </p:cNvSpPr>
          <p:nvPr>
            <p:ph type="title"/>
          </p:nvPr>
        </p:nvSpPr>
        <p:spPr>
          <a:xfrm>
            <a:off x="973932" y="642601"/>
            <a:ext cx="10108406" cy="803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468"/>
              </a:buClr>
              <a:buSzPts val="3300"/>
              <a:buFont typeface="Open Sans"/>
              <a:buNone/>
            </a:pPr>
            <a:r>
              <a:rPr lang="en-US" b="1" dirty="0">
                <a:solidFill>
                  <a:srgbClr val="003468"/>
                </a:solidFill>
                <a:latin typeface="Open Sans"/>
                <a:ea typeface="Open Sans"/>
                <a:cs typeface="Open Sans"/>
                <a:sym typeface="Open Sans"/>
              </a:rPr>
              <a:t>Path Forward</a:t>
            </a:r>
            <a:endParaRPr dirty="0"/>
          </a:p>
        </p:txBody>
      </p:sp>
      <p:sp>
        <p:nvSpPr>
          <p:cNvPr id="142" name="Google Shape;142;p24"/>
          <p:cNvSpPr txBox="1">
            <a:spLocks noGrp="1"/>
          </p:cNvSpPr>
          <p:nvPr>
            <p:ph type="body" idx="1"/>
          </p:nvPr>
        </p:nvSpPr>
        <p:spPr>
          <a:xfrm>
            <a:off x="1109662" y="1446084"/>
            <a:ext cx="4852226" cy="53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71500" indent="-342900" algn="l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200" b="1" i="0" dirty="0">
                <a:solidFill>
                  <a:schemeClr val="tx1"/>
                </a:solidFill>
                <a:effectLst/>
                <a:latin typeface="+mj-lt"/>
              </a:rPr>
              <a:t>Resource Constraints:</a:t>
            </a:r>
            <a:endParaRPr lang="en-US" sz="1200" b="0" i="0" dirty="0">
              <a:solidFill>
                <a:schemeClr val="tx1"/>
              </a:solidFill>
              <a:effectLst/>
              <a:latin typeface="+mj-lt"/>
            </a:endParaRPr>
          </a:p>
          <a:p>
            <a:pPr marL="800100" lvl="1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200" b="0" i="0" dirty="0">
                <a:solidFill>
                  <a:schemeClr val="tx1"/>
                </a:solidFill>
                <a:effectLst/>
                <a:latin typeface="+mj-lt"/>
              </a:rPr>
              <a:t>Explore additional resources to alleviate workload.</a:t>
            </a:r>
          </a:p>
          <a:p>
            <a:pPr marL="800100" lvl="1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200" b="0" i="0" dirty="0">
                <a:solidFill>
                  <a:schemeClr val="tx1"/>
                </a:solidFill>
                <a:effectLst/>
                <a:latin typeface="+mj-lt"/>
              </a:rPr>
              <a:t>Implement cross-training programs to enhance skill sets within the team and mitigate resource shortages.</a:t>
            </a:r>
          </a:p>
          <a:p>
            <a:pPr marL="571500" indent="-342900" algn="l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200" b="1" i="0" dirty="0">
                <a:solidFill>
                  <a:schemeClr val="tx1"/>
                </a:solidFill>
                <a:effectLst/>
                <a:latin typeface="+mj-lt"/>
              </a:rPr>
              <a:t>Time Constraints:</a:t>
            </a:r>
            <a:endParaRPr lang="en-US" sz="1200" b="0" i="0" dirty="0">
              <a:solidFill>
                <a:schemeClr val="tx1"/>
              </a:solidFill>
              <a:effectLst/>
              <a:latin typeface="+mj-lt"/>
            </a:endParaRPr>
          </a:p>
          <a:p>
            <a:pPr marL="800100" lvl="1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200" b="0" i="0" dirty="0">
                <a:solidFill>
                  <a:schemeClr val="tx1"/>
                </a:solidFill>
                <a:effectLst/>
                <a:latin typeface="+mj-lt"/>
              </a:rPr>
              <a:t>Prioritize tasks based on criticality and feasibility to ensure efficient use of available time.</a:t>
            </a:r>
          </a:p>
          <a:p>
            <a:pPr marL="800100" lvl="1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200" b="0" i="0" dirty="0">
                <a:solidFill>
                  <a:schemeClr val="tx1"/>
                </a:solidFill>
                <a:effectLst/>
                <a:latin typeface="+mj-lt"/>
              </a:rPr>
              <a:t>Conduct regular progress reviews and adjust project timelines as needed to prevent burnout and maintain quality.</a:t>
            </a:r>
          </a:p>
          <a:p>
            <a:pPr marL="571500" indent="-342900" algn="l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200" b="1" i="0" dirty="0">
                <a:solidFill>
                  <a:schemeClr val="tx1"/>
                </a:solidFill>
                <a:effectLst/>
                <a:latin typeface="+mj-lt"/>
              </a:rPr>
              <a:t>Technical Challenges:</a:t>
            </a:r>
            <a:endParaRPr lang="en-US" sz="1200" b="0" i="0" dirty="0">
              <a:solidFill>
                <a:schemeClr val="tx1"/>
              </a:solidFill>
              <a:effectLst/>
              <a:latin typeface="+mj-lt"/>
            </a:endParaRPr>
          </a:p>
          <a:p>
            <a:pPr marL="800100" lvl="1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200" b="0" i="0" dirty="0">
                <a:solidFill>
                  <a:schemeClr val="tx1"/>
                </a:solidFill>
                <a:effectLst/>
                <a:latin typeface="+mj-lt"/>
              </a:rPr>
              <a:t>Allocate dedicated time for troubleshooting and problem-solving sessions to address technical hurdles proactively.</a:t>
            </a:r>
          </a:p>
          <a:p>
            <a:pPr marL="800100" lvl="1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200" b="0" i="0" dirty="0">
                <a:solidFill>
                  <a:schemeClr val="tx1"/>
                </a:solidFill>
                <a:effectLst/>
                <a:latin typeface="+mj-lt"/>
              </a:rPr>
              <a:t>Leverage external expertise or consult industry experts for guidance on resolving complex technical issues.</a:t>
            </a:r>
          </a:p>
          <a:p>
            <a:pPr marL="800100" lvl="1" algn="l">
              <a:buFont typeface="Arial" panose="020B0604020202020204" pitchFamily="34" charset="0"/>
              <a:buChar char="•"/>
            </a:pPr>
            <a:endParaRPr lang="en-US" sz="1200" b="0" i="0" dirty="0"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EA6BB2-8783-1D37-79B3-20C483543B98}"/>
              </a:ext>
            </a:extLst>
          </p:cNvPr>
          <p:cNvSpPr txBox="1"/>
          <p:nvPr/>
        </p:nvSpPr>
        <p:spPr>
          <a:xfrm>
            <a:off x="6327648" y="1610676"/>
            <a:ext cx="4754690" cy="5252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marR="0" lvl="0" indent="-342900" algn="l" defTabSz="914400" rtl="0" eaLnBrk="1" fontAlgn="auto" latinLnBrk="0" hangingPunct="1"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8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EB Garamond"/>
                <a:sym typeface="EB Garamond"/>
              </a:rPr>
              <a:t>End Users: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EB Garamond"/>
              <a:sym typeface="EB Garamond"/>
            </a:endParaRPr>
          </a:p>
          <a:p>
            <a:pPr marL="800100" marR="0" lvl="1" indent="-342900" algn="l" defTabSz="914400" rtl="0" eaLnBrk="1" fontAlgn="auto" latinLnBrk="0" hangingPunct="1"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EB Garamond"/>
                <a:sym typeface="EB Garamond"/>
              </a:rPr>
              <a:t>Conduct usability testing and gather feedback from beta users to identify pain points and improve the user experience.</a:t>
            </a:r>
          </a:p>
          <a:p>
            <a:pPr marL="800100" marR="0" lvl="1" indent="-342900" algn="l" defTabSz="914400" rtl="0" eaLnBrk="1" fontAlgn="auto" latinLnBrk="0" hangingPunct="1"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EB Garamond"/>
                <a:sym typeface="EB Garamond"/>
              </a:rPr>
              <a:t>Invest in performance optimization to enhance app responsiveness and stability.</a:t>
            </a:r>
            <a:endParaRPr lang="en-US" sz="1200" dirty="0">
              <a:solidFill>
                <a:schemeClr val="tx1"/>
              </a:solidFill>
              <a:latin typeface="+mj-lt"/>
              <a:ea typeface="EB Garamond"/>
              <a:sym typeface="EB Garamond"/>
            </a:endParaRPr>
          </a:p>
          <a:p>
            <a:pPr marL="571500" marR="0" lvl="0" indent="-342900" algn="l" defTabSz="914400" rtl="0" eaLnBrk="1" fontAlgn="auto" latinLnBrk="0" hangingPunct="1"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800"/>
              <a:buFont typeface="Wingdings" panose="05000000000000000000" pitchFamily="2" charset="2"/>
              <a:buChar char="Ø"/>
              <a:tabLst/>
              <a:defRPr/>
            </a:pPr>
            <a:r>
              <a:rPr lang="en-US" sz="1200" b="1" dirty="0">
                <a:ea typeface="EB Garamond"/>
                <a:sym typeface="EB Garamond"/>
              </a:rPr>
              <a:t>Customers</a:t>
            </a: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EB Garamond"/>
                <a:sym typeface="EB Garamond"/>
              </a:rPr>
              <a:t>:</a:t>
            </a:r>
          </a:p>
          <a:p>
            <a:pPr marL="571500" indent="-342900">
              <a:spcBef>
                <a:spcPts val="1000"/>
              </a:spcBef>
              <a:buClr>
                <a:srgbClr val="767676"/>
              </a:buClr>
              <a:buSzPts val="18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chemeClr val="tx1"/>
                </a:solidFill>
                <a:latin typeface="+mj-lt"/>
                <a:ea typeface="EB Garamond"/>
                <a:sym typeface="EB Garamond"/>
              </a:rPr>
              <a:t>Enhance customer service channels and response times to address inquiries and complaints promptly.</a:t>
            </a:r>
          </a:p>
          <a:p>
            <a:pPr marL="571500" indent="-342900">
              <a:spcBef>
                <a:spcPts val="1000"/>
              </a:spcBef>
              <a:buClr>
                <a:srgbClr val="767676"/>
              </a:buClr>
              <a:buSzPts val="18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chemeClr val="tx1"/>
                </a:solidFill>
                <a:latin typeface="+mj-lt"/>
                <a:ea typeface="EB Garamond"/>
                <a:sym typeface="EB Garamond"/>
              </a:rPr>
              <a:t>Review pricing strategies and offer transparent pricing information to build trust and loyalty among customers.</a:t>
            </a:r>
          </a:p>
          <a:p>
            <a:pPr marL="571500" indent="-342900">
              <a:spcBef>
                <a:spcPts val="1000"/>
              </a:spcBef>
              <a:buClr>
                <a:srgbClr val="767676"/>
              </a:buClr>
              <a:buSzPts val="1800"/>
              <a:buFont typeface="Wingdings" panose="05000000000000000000" pitchFamily="2" charset="2"/>
              <a:buChar char="Ø"/>
              <a:defRPr/>
            </a:pPr>
            <a:r>
              <a:rPr lang="en-US" sz="1200" b="1" dirty="0">
                <a:solidFill>
                  <a:schemeClr val="tx1"/>
                </a:solidFill>
                <a:latin typeface="+mj-lt"/>
                <a:ea typeface="EB Garamond"/>
                <a:sym typeface="EB Garamond"/>
              </a:rPr>
              <a:t>Partners/Suppliers:</a:t>
            </a:r>
          </a:p>
          <a:p>
            <a:pPr marL="571500" indent="-342900">
              <a:spcBef>
                <a:spcPts val="1000"/>
              </a:spcBef>
              <a:buClr>
                <a:srgbClr val="767676"/>
              </a:buClr>
              <a:buSzPts val="18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chemeClr val="tx1"/>
                </a:solidFill>
                <a:latin typeface="+mj-lt"/>
                <a:ea typeface="EB Garamond"/>
                <a:sym typeface="EB Garamond"/>
              </a:rPr>
              <a:t>Collaborate closely with partners to streamline integration processes and resolve any compatibility issues.</a:t>
            </a:r>
          </a:p>
          <a:p>
            <a:pPr marL="571500" indent="-342900">
              <a:spcBef>
                <a:spcPts val="1000"/>
              </a:spcBef>
              <a:buClr>
                <a:srgbClr val="767676"/>
              </a:buClr>
              <a:buSzPts val="18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chemeClr val="tx1"/>
                </a:solidFill>
                <a:latin typeface="+mj-lt"/>
                <a:ea typeface="EB Garamond"/>
                <a:sym typeface="EB Garamond"/>
              </a:rPr>
              <a:t>Ensure timely payments and maintain clear communication to foster strong relationships with suppliers.</a:t>
            </a:r>
          </a:p>
          <a:p>
            <a:pPr marL="571500" indent="-342900">
              <a:spcBef>
                <a:spcPts val="1000"/>
              </a:spcBef>
              <a:buClr>
                <a:srgbClr val="767676"/>
              </a:buClr>
              <a:buSzPts val="1800"/>
              <a:buFont typeface="Wingdings" panose="05000000000000000000" pitchFamily="2" charset="2"/>
              <a:buChar char="Ø"/>
              <a:defRPr/>
            </a:pPr>
            <a:r>
              <a:rPr lang="en-US" sz="1200" b="1" dirty="0">
                <a:solidFill>
                  <a:schemeClr val="tx1"/>
                </a:solidFill>
                <a:latin typeface="+mj-lt"/>
                <a:ea typeface="EB Garamond"/>
                <a:sym typeface="EB Garamond"/>
              </a:rPr>
              <a:t>Regulatory Authorities:</a:t>
            </a:r>
          </a:p>
          <a:p>
            <a:pPr marL="571500" indent="-342900">
              <a:spcBef>
                <a:spcPts val="1000"/>
              </a:spcBef>
              <a:buClr>
                <a:srgbClr val="767676"/>
              </a:buClr>
              <a:buSzPts val="18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chemeClr val="tx1"/>
                </a:solidFill>
                <a:latin typeface="+mj-lt"/>
                <a:ea typeface="EB Garamond"/>
                <a:sym typeface="EB Garamond"/>
              </a:rPr>
              <a:t>Conduct regular audits to ensure compliance with relevant regulations and standards.</a:t>
            </a:r>
          </a:p>
          <a:p>
            <a:pPr marL="571500" indent="-342900">
              <a:spcBef>
                <a:spcPts val="1000"/>
              </a:spcBef>
              <a:buClr>
                <a:srgbClr val="767676"/>
              </a:buClr>
              <a:buSzPts val="18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chemeClr val="tx1"/>
                </a:solidFill>
                <a:latin typeface="+mj-lt"/>
                <a:ea typeface="EB Garamond"/>
                <a:sym typeface="EB Garamond"/>
              </a:rPr>
              <a:t>Stay updated on industry developments and proactively adapt to changes in regulatory requirements.</a:t>
            </a:r>
          </a:p>
        </p:txBody>
      </p:sp>
    </p:spTree>
    <p:extLst>
      <p:ext uri="{BB962C8B-B14F-4D97-AF65-F5344CB8AC3E}">
        <p14:creationId xmlns:p14="http://schemas.microsoft.com/office/powerpoint/2010/main" val="29052812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5"/>
          <p:cNvSpPr txBox="1">
            <a:spLocks noGrp="1"/>
          </p:cNvSpPr>
          <p:nvPr>
            <p:ph type="title"/>
          </p:nvPr>
        </p:nvSpPr>
        <p:spPr>
          <a:xfrm>
            <a:off x="973932" y="642601"/>
            <a:ext cx="10108406" cy="803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468"/>
              </a:buClr>
              <a:buSzPts val="3300"/>
              <a:buFont typeface="Open Sans"/>
              <a:buNone/>
            </a:pPr>
            <a:r>
              <a:rPr lang="en-US" b="1" dirty="0">
                <a:solidFill>
                  <a:srgbClr val="003468"/>
                </a:solidFill>
                <a:latin typeface="Open Sans"/>
                <a:ea typeface="Open Sans"/>
                <a:cs typeface="Open Sans"/>
                <a:sym typeface="Open Sans"/>
              </a:rPr>
              <a:t>Next steps </a:t>
            </a:r>
            <a:endParaRPr dirty="0"/>
          </a:p>
        </p:txBody>
      </p:sp>
      <p:sp>
        <p:nvSpPr>
          <p:cNvPr id="148" name="Google Shape;148;p25"/>
          <p:cNvSpPr txBox="1">
            <a:spLocks noGrp="1"/>
          </p:cNvSpPr>
          <p:nvPr>
            <p:ph type="body" idx="1"/>
          </p:nvPr>
        </p:nvSpPr>
        <p:spPr>
          <a:xfrm>
            <a:off x="1007774" y="1446075"/>
            <a:ext cx="10074563" cy="515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l">
              <a:buFont typeface="Wingdings" panose="05000000000000000000" pitchFamily="2" charset="2"/>
              <a:buChar char="Ø"/>
            </a:pPr>
            <a:r>
              <a:rPr lang="en-US" sz="1400" b="1" i="0" dirty="0">
                <a:solidFill>
                  <a:srgbClr val="0D0D0D"/>
                </a:solidFill>
                <a:effectLst/>
                <a:latin typeface="+mj-lt"/>
              </a:rPr>
              <a:t>Immediate Actions:</a:t>
            </a:r>
            <a:endParaRPr lang="en-US" sz="1400" b="0" i="0" dirty="0">
              <a:solidFill>
                <a:srgbClr val="0D0D0D"/>
              </a:solidFill>
              <a:effectLst/>
              <a:latin typeface="+mj-lt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400" b="1" i="0" dirty="0">
                <a:solidFill>
                  <a:srgbClr val="0D0D0D"/>
                </a:solidFill>
                <a:effectLst/>
                <a:latin typeface="+mj-lt"/>
              </a:rPr>
              <a:t>Technical Review:</a:t>
            </a:r>
            <a:r>
              <a:rPr lang="en-US" sz="1400" b="0" i="0" dirty="0">
                <a:solidFill>
                  <a:srgbClr val="0D0D0D"/>
                </a:solidFill>
                <a:effectLst/>
                <a:latin typeface="+mj-lt"/>
              </a:rPr>
              <a:t> Conducting a comprehensive review of backend architecture and development progress to identify and address any existing technical challenges.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400" b="1" i="0" dirty="0">
                <a:solidFill>
                  <a:srgbClr val="0D0D0D"/>
                </a:solidFill>
                <a:effectLst/>
                <a:latin typeface="+mj-lt"/>
              </a:rPr>
              <a:t>Design plan:</a:t>
            </a:r>
            <a:r>
              <a:rPr lang="en-US" sz="1400" b="0" i="0" dirty="0">
                <a:solidFill>
                  <a:srgbClr val="0D0D0D"/>
                </a:solidFill>
                <a:effectLst/>
                <a:latin typeface="+mj-lt"/>
              </a:rPr>
              <a:t> Collaborating with designers to refine UI elements, address usability issues, and enhance the overall visual appeal of the app.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400" b="1" i="0" dirty="0">
                <a:solidFill>
                  <a:srgbClr val="0D0D0D"/>
                </a:solidFill>
                <a:effectLst/>
                <a:latin typeface="+mj-lt"/>
              </a:rPr>
              <a:t>Resource Allocation:</a:t>
            </a:r>
            <a:r>
              <a:rPr lang="en-US" sz="1400" b="0" i="0" dirty="0">
                <a:solidFill>
                  <a:srgbClr val="0D0D0D"/>
                </a:solidFill>
                <a:effectLst/>
                <a:latin typeface="+mj-lt"/>
              </a:rPr>
              <a:t> Assessing resource availability, identifying skill gaps, and optimizing team productivity through effective resource management strategies.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US" sz="1400" b="1" i="0" dirty="0">
                <a:solidFill>
                  <a:srgbClr val="0D0D0D"/>
                </a:solidFill>
                <a:effectLst/>
                <a:latin typeface="+mj-lt"/>
              </a:rPr>
              <a:t>Project Milestones:</a:t>
            </a:r>
            <a:endParaRPr lang="en-US" sz="1400" b="0" i="0" dirty="0">
              <a:solidFill>
                <a:srgbClr val="0D0D0D"/>
              </a:solidFill>
              <a:effectLst/>
              <a:latin typeface="+mj-lt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400" b="1" i="0" dirty="0">
                <a:solidFill>
                  <a:srgbClr val="0D0D0D"/>
                </a:solidFill>
                <a:effectLst/>
                <a:latin typeface="+mj-lt"/>
              </a:rPr>
              <a:t>Milestone 1:</a:t>
            </a:r>
            <a:r>
              <a:rPr lang="en-US" sz="1400" b="0" i="0" dirty="0">
                <a:solidFill>
                  <a:srgbClr val="0D0D0D"/>
                </a:solidFill>
                <a:effectLst/>
                <a:latin typeface="+mj-lt"/>
              </a:rPr>
              <a:t> Completion of Backend Development 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400" b="1" i="0" dirty="0">
                <a:solidFill>
                  <a:srgbClr val="0D0D0D"/>
                </a:solidFill>
                <a:effectLst/>
                <a:latin typeface="+mj-lt"/>
              </a:rPr>
              <a:t>Milestone 2:</a:t>
            </a:r>
            <a:r>
              <a:rPr lang="en-US" sz="1400" b="0" i="0" dirty="0">
                <a:solidFill>
                  <a:srgbClr val="0D0D0D"/>
                </a:solidFill>
                <a:effectLst/>
                <a:latin typeface="+mj-lt"/>
              </a:rPr>
              <a:t> Finalization of UI/UX Design 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400" b="1" i="0" dirty="0">
                <a:solidFill>
                  <a:srgbClr val="0D0D0D"/>
                </a:solidFill>
                <a:effectLst/>
                <a:latin typeface="+mj-lt"/>
              </a:rPr>
              <a:t>Milestone 3:</a:t>
            </a:r>
            <a:r>
              <a:rPr lang="en-US" sz="1400" b="0" i="0" dirty="0">
                <a:solidFill>
                  <a:srgbClr val="0D0D0D"/>
                </a:solidFill>
                <a:effectLst/>
                <a:latin typeface="+mj-lt"/>
              </a:rPr>
              <a:t> Commencement of User Testing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0D0D0D"/>
                </a:solidFill>
                <a:latin typeface="+mj-lt"/>
              </a:rPr>
              <a:t>Milestone 4:</a:t>
            </a:r>
            <a:r>
              <a:rPr lang="en-US" sz="1400" dirty="0">
                <a:solidFill>
                  <a:srgbClr val="0D0D0D"/>
                </a:solidFill>
                <a:latin typeface="+mj-lt"/>
              </a:rPr>
              <a:t> Marketing Strategy</a:t>
            </a:r>
            <a:endParaRPr lang="en-US" sz="1400" b="0" i="0" dirty="0">
              <a:solidFill>
                <a:srgbClr val="0D0D0D"/>
              </a:solidFill>
              <a:effectLst/>
              <a:latin typeface="+mj-lt"/>
            </a:endParaRPr>
          </a:p>
          <a:p>
            <a:pPr algn="l">
              <a:buFont typeface="Wingdings" panose="05000000000000000000" pitchFamily="2" charset="2"/>
              <a:buChar char="Ø"/>
            </a:pPr>
            <a:r>
              <a:rPr lang="en-US" sz="1400" b="1" i="0" dirty="0">
                <a:solidFill>
                  <a:srgbClr val="0D0D0D"/>
                </a:solidFill>
                <a:effectLst/>
                <a:latin typeface="+mj-lt"/>
              </a:rPr>
              <a:t>Communication Plan:</a:t>
            </a:r>
            <a:endParaRPr lang="en-US" sz="1400" b="0" i="0" dirty="0">
              <a:solidFill>
                <a:srgbClr val="0D0D0D"/>
              </a:solidFill>
              <a:effectLst/>
              <a:latin typeface="+mj-lt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400" b="1" i="0" dirty="0">
                <a:solidFill>
                  <a:srgbClr val="0D0D0D"/>
                </a:solidFill>
                <a:effectLst/>
                <a:latin typeface="+mj-lt"/>
              </a:rPr>
              <a:t>Regular Updates:</a:t>
            </a:r>
            <a:r>
              <a:rPr lang="en-US" sz="1400" b="0" i="0" dirty="0">
                <a:solidFill>
                  <a:srgbClr val="0D0D0D"/>
                </a:solidFill>
                <a:effectLst/>
                <a:latin typeface="+mj-lt"/>
              </a:rPr>
              <a:t> Providing bi-weekly progress reports and scheduling stakeholder meetings to ensure transparency, alignment, and accountability.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400" b="1" i="0" dirty="0">
                <a:solidFill>
                  <a:srgbClr val="0D0D0D"/>
                </a:solidFill>
                <a:effectLst/>
                <a:latin typeface="+mj-lt"/>
              </a:rPr>
              <a:t>Issue Resolution:</a:t>
            </a:r>
            <a:r>
              <a:rPr lang="en-US" sz="1400" b="0" i="0" dirty="0">
                <a:solidFill>
                  <a:srgbClr val="0D0D0D"/>
                </a:solidFill>
                <a:effectLst/>
                <a:latin typeface="+mj-lt"/>
              </a:rPr>
              <a:t> Promptly identifying and resolving project issues or concerns to minimize disruptions and maintain project momentum.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400" b="1" i="0" dirty="0">
                <a:solidFill>
                  <a:srgbClr val="0D0D0D"/>
                </a:solidFill>
                <a:effectLst/>
                <a:latin typeface="+mj-lt"/>
              </a:rPr>
              <a:t>Stakeholder Engagement:</a:t>
            </a:r>
            <a:r>
              <a:rPr lang="en-US" sz="1400" b="0" i="0" dirty="0">
                <a:solidFill>
                  <a:srgbClr val="0D0D0D"/>
                </a:solidFill>
                <a:effectLst/>
                <a:latin typeface="+mj-lt"/>
              </a:rPr>
              <a:t> Actively involving stakeholders in the decision-making process, seeking their input and feedback, and fostering a collaborative environment conducive to project success.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2602</TotalTime>
  <Words>957</Words>
  <Application>Microsoft Office PowerPoint</Application>
  <PresentationFormat>Widescreen</PresentationFormat>
  <Paragraphs>84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Open Sans Light</vt:lpstr>
      <vt:lpstr>Calibri</vt:lpstr>
      <vt:lpstr>Wingdings</vt:lpstr>
      <vt:lpstr>EB Garamond</vt:lpstr>
      <vt:lpstr>Open Sans</vt:lpstr>
      <vt:lpstr>Arial</vt:lpstr>
      <vt:lpstr>Office Theme</vt:lpstr>
      <vt:lpstr>1_Office Theme</vt:lpstr>
      <vt:lpstr>   Project Name: Developing a mobile app - Sumaya</vt:lpstr>
      <vt:lpstr>Overview of project</vt:lpstr>
      <vt:lpstr>Issues</vt:lpstr>
      <vt:lpstr>Issues </vt:lpstr>
      <vt:lpstr>Path Forward</vt:lpstr>
      <vt:lpstr>Next steps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Project Name: Developing a shopping mobile app</dc:title>
  <cp:lastModifiedBy>Neha Jain</cp:lastModifiedBy>
  <cp:revision>24</cp:revision>
  <dcterms:modified xsi:type="dcterms:W3CDTF">2024-02-17T13:36:02Z</dcterms:modified>
</cp:coreProperties>
</file>